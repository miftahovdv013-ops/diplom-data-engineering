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8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58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109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31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310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00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05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4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30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74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19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564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832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76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444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76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438711-AF0F-4D56-B1AC-50A9AFF08683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B0ADA-8897-47F8-AE92-168E88FF6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773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Дипломный проект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Разработка </a:t>
            </a:r>
            <a:r>
              <a:rPr lang="en-US" dirty="0" smtClean="0"/>
              <a:t>ETL </a:t>
            </a:r>
            <a:r>
              <a:rPr lang="ru-RU" dirty="0" smtClean="0"/>
              <a:t>процессов и хранилища данных для розничных продаж</a:t>
            </a:r>
          </a:p>
          <a:p>
            <a:endParaRPr lang="ru-RU" dirty="0"/>
          </a:p>
          <a:p>
            <a:r>
              <a:rPr lang="ru-RU" dirty="0" smtClean="0"/>
              <a:t>Мифтахов Денис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85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Цель</a:t>
            </a:r>
            <a:r>
              <a:rPr lang="en-US" dirty="0" smtClean="0"/>
              <a:t>: </a:t>
            </a:r>
            <a:r>
              <a:rPr lang="ru-RU" dirty="0" smtClean="0"/>
              <a:t>Разработать полный </a:t>
            </a:r>
            <a:r>
              <a:rPr lang="ru-RU" dirty="0" err="1" smtClean="0"/>
              <a:t>пайплайн</a:t>
            </a:r>
            <a:r>
              <a:rPr lang="ru-RU" dirty="0" smtClean="0"/>
              <a:t> обработки данных от </a:t>
            </a:r>
            <a:r>
              <a:rPr lang="en-US" dirty="0" smtClean="0"/>
              <a:t>CSV </a:t>
            </a:r>
            <a:r>
              <a:rPr lang="ru-RU" dirty="0" smtClean="0"/>
              <a:t>до </a:t>
            </a:r>
            <a:r>
              <a:rPr lang="ru-RU" dirty="0" err="1" smtClean="0"/>
              <a:t>дашбордов</a:t>
            </a:r>
            <a:endParaRPr lang="ru-RU" dirty="0" smtClean="0"/>
          </a:p>
          <a:p>
            <a:r>
              <a:rPr lang="ru-RU" dirty="0" smtClean="0"/>
              <a:t>Задачи</a:t>
            </a:r>
            <a:r>
              <a:rPr lang="en-US" dirty="0" smtClean="0"/>
              <a:t>:</a:t>
            </a:r>
            <a:endParaRPr lang="ru-RU" dirty="0" smtClean="0"/>
          </a:p>
          <a:p>
            <a:pPr marL="514350" indent="-514350">
              <a:buAutoNum type="arabicPeriod"/>
            </a:pPr>
            <a:r>
              <a:rPr lang="ru-RU" dirty="0" smtClean="0"/>
              <a:t>Спроектировать </a:t>
            </a:r>
            <a:r>
              <a:rPr lang="en-US" dirty="0" smtClean="0"/>
              <a:t>NDS </a:t>
            </a:r>
            <a:r>
              <a:rPr lang="ru-RU" dirty="0" smtClean="0"/>
              <a:t>(нормализованное хранилище)</a:t>
            </a:r>
          </a:p>
          <a:p>
            <a:pPr marL="514350" indent="-514350">
              <a:buAutoNum type="arabicPeriod"/>
            </a:pPr>
            <a:r>
              <a:rPr lang="ru-RU" dirty="0" smtClean="0"/>
              <a:t>Спроектировать </a:t>
            </a:r>
            <a:r>
              <a:rPr lang="en-US" dirty="0" smtClean="0"/>
              <a:t>DDS (</a:t>
            </a:r>
            <a:r>
              <a:rPr lang="ru-RU" dirty="0" smtClean="0"/>
              <a:t>схема звезда)</a:t>
            </a:r>
          </a:p>
          <a:p>
            <a:pPr marL="514350" indent="-514350">
              <a:buAutoNum type="arabicPeriod"/>
            </a:pPr>
            <a:r>
              <a:rPr lang="ru-RU" dirty="0" smtClean="0"/>
              <a:t>Разработать ETL процессы на </a:t>
            </a:r>
            <a:r>
              <a:rPr lang="ru-RU" dirty="0" err="1" smtClean="0"/>
              <a:t>Python</a:t>
            </a:r>
            <a:endParaRPr lang="ru-RU" dirty="0" smtClean="0"/>
          </a:p>
          <a:p>
            <a:pPr marL="514350" indent="-514350">
              <a:buAutoNum type="arabicPeriod"/>
            </a:pPr>
            <a:r>
              <a:rPr lang="ru-RU" dirty="0" smtClean="0"/>
              <a:t>Настроить проверки качества данных (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Quality</a:t>
            </a:r>
            <a:r>
              <a:rPr lang="ru-RU" dirty="0" smtClean="0"/>
              <a:t>)</a:t>
            </a:r>
          </a:p>
          <a:p>
            <a:pPr marL="514350" indent="-514350">
              <a:buAutoNum type="arabicPeriod"/>
            </a:pPr>
            <a:r>
              <a:rPr lang="ru-RU" dirty="0" smtClean="0"/>
              <a:t>Построить ML модели (прогноз, сегментация, риск оттока)</a:t>
            </a:r>
          </a:p>
          <a:p>
            <a:pPr marL="514350" indent="-514350">
              <a:buAutoNum type="arabicPeriod"/>
            </a:pPr>
            <a:r>
              <a:rPr lang="ru-RU" dirty="0" smtClean="0"/>
              <a:t>Создать 3 </a:t>
            </a:r>
            <a:r>
              <a:rPr lang="ru-RU" dirty="0" err="1" smtClean="0"/>
              <a:t>дашборда</a:t>
            </a:r>
            <a:r>
              <a:rPr lang="ru-RU" dirty="0" smtClean="0"/>
              <a:t> в </a:t>
            </a:r>
            <a:r>
              <a:rPr lang="ru-RU" dirty="0" err="1" smtClean="0"/>
              <a:t>Tableau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96800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Инструменты и компоненты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PostgreSQL</a:t>
            </a:r>
            <a:r>
              <a:rPr lang="ru-RU" dirty="0" smtClean="0"/>
              <a:t> 15 - Хранилище данных</a:t>
            </a:r>
          </a:p>
          <a:p>
            <a:r>
              <a:rPr lang="en-US" dirty="0" smtClean="0"/>
              <a:t>Python</a:t>
            </a:r>
            <a:r>
              <a:rPr lang="ru-RU" dirty="0" smtClean="0"/>
              <a:t> 3.9 - </a:t>
            </a:r>
            <a:r>
              <a:rPr lang="en-US" dirty="0" smtClean="0"/>
              <a:t>ETL </a:t>
            </a:r>
            <a:r>
              <a:rPr lang="ru-RU" dirty="0" smtClean="0"/>
              <a:t>процессы</a:t>
            </a:r>
          </a:p>
          <a:p>
            <a:r>
              <a:rPr lang="en-US" dirty="0" smtClean="0"/>
              <a:t>Tableau</a:t>
            </a:r>
            <a:r>
              <a:rPr lang="ru-RU" dirty="0" smtClean="0"/>
              <a:t> </a:t>
            </a:r>
            <a:r>
              <a:rPr lang="en-US" dirty="0" smtClean="0"/>
              <a:t>Public </a:t>
            </a:r>
            <a:r>
              <a:rPr lang="ru-RU" dirty="0" smtClean="0"/>
              <a:t>– Визуализация</a:t>
            </a:r>
          </a:p>
          <a:p>
            <a:r>
              <a:rPr lang="en-US" dirty="0" smtClean="0"/>
              <a:t>Pandas</a:t>
            </a:r>
            <a:r>
              <a:rPr lang="ru-RU" dirty="0" smtClean="0"/>
              <a:t> - Обработка данных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</a:t>
            </a:r>
            <a:r>
              <a:rPr lang="ru-RU" dirty="0" smtClean="0"/>
              <a:t> - </a:t>
            </a:r>
            <a:r>
              <a:rPr lang="en-US" dirty="0" smtClean="0"/>
              <a:t>ML </a:t>
            </a:r>
            <a:r>
              <a:rPr lang="ru-RU" dirty="0" smtClean="0"/>
              <a:t>модели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00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хранилища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CSV Source – Raw data (1000 </a:t>
            </a:r>
            <a:r>
              <a:rPr lang="ru-RU" dirty="0" smtClean="0"/>
              <a:t>строк)</a:t>
            </a:r>
          </a:p>
          <a:p>
            <a:r>
              <a:rPr lang="en-US" dirty="0" smtClean="0"/>
              <a:t>NDS – 3NF</a:t>
            </a:r>
            <a:r>
              <a:rPr lang="ru-RU" dirty="0" smtClean="0"/>
              <a:t>, без дубликатов</a:t>
            </a:r>
          </a:p>
          <a:p>
            <a:r>
              <a:rPr lang="en-US" dirty="0" smtClean="0"/>
              <a:t>DDS – </a:t>
            </a:r>
            <a:r>
              <a:rPr lang="ru-RU" dirty="0" smtClean="0"/>
              <a:t>Схема звезда</a:t>
            </a:r>
          </a:p>
          <a:p>
            <a:r>
              <a:rPr lang="en-US" dirty="0" smtClean="0"/>
              <a:t>Marts – </a:t>
            </a:r>
            <a:r>
              <a:rPr lang="ru-RU" dirty="0" smtClean="0"/>
              <a:t>Витрины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431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</a:t>
            </a:r>
            <a:r>
              <a:rPr lang="en-US" dirty="0" smtClean="0"/>
              <a:t>NDS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5667" y="1439334"/>
            <a:ext cx="4275666" cy="30141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NDS таблицы </a:t>
            </a:r>
            <a:r>
              <a:rPr lang="ru-RU" dirty="0" smtClean="0"/>
              <a:t>(5 </a:t>
            </a:r>
            <a:r>
              <a:rPr lang="ru-RU" dirty="0"/>
              <a:t>справочников + 1 факт</a:t>
            </a:r>
            <a:r>
              <a:rPr lang="ru-RU" dirty="0" smtClean="0"/>
              <a:t>):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dim_branch</a:t>
            </a:r>
            <a:r>
              <a:rPr lang="en-US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/>
              <a:t>dim_payment</a:t>
            </a:r>
            <a:r>
              <a:rPr lang="en-US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/>
              <a:t>dim_product_line</a:t>
            </a:r>
            <a:r>
              <a:rPr lang="en-US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/>
              <a:t>dim_customer_type</a:t>
            </a:r>
            <a:r>
              <a:rPr lang="en-US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/>
              <a:t>dim_gender</a:t>
            </a:r>
            <a:r>
              <a:rPr lang="en-US" dirty="0"/>
              <a:t> </a:t>
            </a:r>
            <a:endParaRPr lang="ru-RU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fact_invoice</a:t>
            </a:r>
            <a:endParaRPr lang="ru-RU" dirty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193" y="1354666"/>
            <a:ext cx="5950025" cy="511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9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244" y="312033"/>
            <a:ext cx="9404723" cy="1400530"/>
          </a:xfrm>
        </p:spPr>
        <p:txBody>
          <a:bodyPr/>
          <a:lstStyle/>
          <a:p>
            <a:r>
              <a:rPr lang="ru-RU" dirty="0" smtClean="0"/>
              <a:t>Схема Звезда (</a:t>
            </a:r>
            <a:r>
              <a:rPr lang="en-US" dirty="0" smtClean="0"/>
              <a:t>DDS)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683" y="1190098"/>
            <a:ext cx="5375799" cy="5278435"/>
          </a:xfrm>
        </p:spPr>
      </p:pic>
      <p:sp>
        <p:nvSpPr>
          <p:cNvPr id="5" name="TextBox 4"/>
          <p:cNvSpPr txBox="1"/>
          <p:nvPr/>
        </p:nvSpPr>
        <p:spPr>
          <a:xfrm>
            <a:off x="612245" y="1430867"/>
            <a:ext cx="41460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DDS </a:t>
            </a:r>
            <a:r>
              <a:rPr lang="ru-RU" dirty="0" smtClean="0"/>
              <a:t>схема звезда (5 измерений + 1 факт)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dim_date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dim_branch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dim_product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dim_customer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dim_payment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fact_sales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036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ETL </a:t>
            </a:r>
            <a:r>
              <a:rPr lang="ru-RU" dirty="0" smtClean="0"/>
              <a:t>Процесс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Extract (</a:t>
            </a:r>
            <a:r>
              <a:rPr lang="ru-RU" dirty="0" smtClean="0"/>
              <a:t>Извлечение)</a:t>
            </a:r>
            <a:r>
              <a:rPr lang="en-US" dirty="0" smtClean="0"/>
              <a:t>: sales.csv </a:t>
            </a:r>
            <a:r>
              <a:rPr lang="en-US" dirty="0"/>
              <a:t>- </a:t>
            </a:r>
            <a:r>
              <a:rPr lang="en-US" dirty="0" err="1"/>
              <a:t>pandas.read_csv</a:t>
            </a:r>
            <a:r>
              <a:rPr lang="en-US" dirty="0" smtClean="0"/>
              <a:t>() - </a:t>
            </a:r>
            <a:r>
              <a:rPr lang="ru-RU" dirty="0"/>
              <a:t>1000 </a:t>
            </a:r>
            <a:r>
              <a:rPr lang="ru-RU" dirty="0" smtClean="0"/>
              <a:t>записей</a:t>
            </a:r>
            <a:endParaRPr lang="en-US" dirty="0" smtClean="0"/>
          </a:p>
          <a:p>
            <a:r>
              <a:rPr lang="en-US" dirty="0" smtClean="0"/>
              <a:t>Transform </a:t>
            </a:r>
            <a:r>
              <a:rPr lang="en-US" dirty="0"/>
              <a:t>(</a:t>
            </a:r>
            <a:r>
              <a:rPr lang="ru-RU" dirty="0" smtClean="0"/>
              <a:t>Трансформация)</a:t>
            </a:r>
            <a:r>
              <a:rPr lang="en-US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Извлечение уникальных значений для </a:t>
            </a:r>
            <a:r>
              <a:rPr lang="ru-RU" dirty="0" smtClean="0"/>
              <a:t>справочников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Преобразование типов данных (</a:t>
            </a:r>
            <a:r>
              <a:rPr lang="ru-RU" dirty="0" err="1"/>
              <a:t>Date</a:t>
            </a:r>
            <a:r>
              <a:rPr lang="ru-RU" dirty="0"/>
              <a:t>, </a:t>
            </a:r>
            <a:r>
              <a:rPr lang="ru-RU" dirty="0" err="1"/>
              <a:t>Time</a:t>
            </a:r>
            <a:r>
              <a:rPr lang="ru-RU" dirty="0" smtClean="0"/>
              <a:t>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Построение </a:t>
            </a:r>
            <a:r>
              <a:rPr lang="ru-RU" dirty="0" err="1"/>
              <a:t>маппинга</a:t>
            </a:r>
            <a:r>
              <a:rPr lang="ru-RU" dirty="0"/>
              <a:t> для </a:t>
            </a:r>
            <a:r>
              <a:rPr lang="ru-RU" dirty="0" smtClean="0"/>
              <a:t>связей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Создание </a:t>
            </a:r>
            <a:r>
              <a:rPr lang="en-US" dirty="0"/>
              <a:t>DDS </a:t>
            </a:r>
            <a:r>
              <a:rPr lang="ru-RU" dirty="0"/>
              <a:t>из </a:t>
            </a:r>
            <a:r>
              <a:rPr lang="en-US" dirty="0" smtClean="0"/>
              <a:t>NDS</a:t>
            </a:r>
          </a:p>
          <a:p>
            <a:r>
              <a:rPr lang="en-US" dirty="0"/>
              <a:t>LOAD (</a:t>
            </a:r>
            <a:r>
              <a:rPr lang="ru-RU" dirty="0"/>
              <a:t>Загрузка</a:t>
            </a:r>
            <a:r>
              <a:rPr lang="ru-RU" dirty="0" smtClean="0"/>
              <a:t>)</a:t>
            </a:r>
            <a:r>
              <a:rPr lang="en-US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Загрузка справочников в </a:t>
            </a:r>
            <a:r>
              <a:rPr lang="en-US" dirty="0" smtClean="0"/>
              <a:t>NDS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Загрузка фактов в NDS (1000 чеков</a:t>
            </a:r>
            <a:r>
              <a:rPr lang="ru-RU" dirty="0" smtClean="0"/>
              <a:t>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Загрузка </a:t>
            </a:r>
            <a:r>
              <a:rPr lang="en-US" dirty="0"/>
              <a:t>DDS (</a:t>
            </a:r>
            <a:r>
              <a:rPr lang="ru-RU" dirty="0"/>
              <a:t>схема звезда</a:t>
            </a:r>
            <a:r>
              <a:rPr lang="ru-RU" dirty="0" smtClean="0"/>
              <a:t>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Создание витрин данных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43295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Качество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6 автоматических проверок</a:t>
            </a:r>
            <a:r>
              <a:rPr lang="en-US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Дубликаты </a:t>
            </a:r>
            <a:r>
              <a:rPr lang="en-US" dirty="0" err="1" smtClean="0"/>
              <a:t>invoice_id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NULL </a:t>
            </a:r>
            <a:r>
              <a:rPr lang="ru-RU" dirty="0" smtClean="0"/>
              <a:t>значения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Диапазон рейтинга (0-10</a:t>
            </a:r>
            <a:r>
              <a:rPr lang="ru-RU" dirty="0" smtClean="0"/>
              <a:t>)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Количество товаров &gt; </a:t>
            </a:r>
            <a:r>
              <a:rPr lang="ru-RU" dirty="0" smtClean="0"/>
              <a:t>0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Ссылочная </a:t>
            </a:r>
            <a:r>
              <a:rPr lang="ru-RU" dirty="0" smtClean="0"/>
              <a:t>целостность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Бизнес-правила</a:t>
            </a:r>
            <a:endParaRPr lang="en-US" dirty="0" smtClean="0"/>
          </a:p>
          <a:p>
            <a:pPr marL="0" indent="0">
              <a:buNone/>
            </a:pPr>
            <a:r>
              <a:rPr lang="ru-RU" dirty="0"/>
              <a:t>Результаты </a:t>
            </a:r>
            <a:r>
              <a:rPr lang="ru-RU" dirty="0" err="1"/>
              <a:t>логируются</a:t>
            </a:r>
            <a:r>
              <a:rPr lang="ru-RU" dirty="0"/>
              <a:t> в </a:t>
            </a:r>
            <a:r>
              <a:rPr lang="en-US" dirty="0" err="1"/>
              <a:t>meta.dq_log</a:t>
            </a:r>
            <a:r>
              <a:rPr lang="en-US" dirty="0"/>
              <a:t>: </a:t>
            </a:r>
            <a:endParaRPr lang="en-US" dirty="0" smtClean="0"/>
          </a:p>
          <a:p>
            <a:r>
              <a:rPr lang="ru-RU" dirty="0"/>
              <a:t>6 проверок, все </a:t>
            </a:r>
            <a:r>
              <a:rPr lang="ru-RU" dirty="0" smtClean="0"/>
              <a:t>пройдены</a:t>
            </a:r>
            <a:endParaRPr lang="en-US" dirty="0" smtClean="0"/>
          </a:p>
          <a:p>
            <a:r>
              <a:rPr lang="en-US" dirty="0" smtClean="0"/>
              <a:t>High/Medium/Low </a:t>
            </a:r>
            <a:r>
              <a:rPr lang="en-US" dirty="0"/>
              <a:t>— </a:t>
            </a:r>
            <a:r>
              <a:rPr lang="ru-RU" dirty="0"/>
              <a:t>классификация по </a:t>
            </a:r>
            <a:r>
              <a:rPr lang="ru-RU" dirty="0" smtClean="0"/>
              <a:t>важности</a:t>
            </a:r>
            <a:endParaRPr lang="en-US" dirty="0" smtClean="0"/>
          </a:p>
          <a:p>
            <a:r>
              <a:rPr lang="ru-RU" dirty="0"/>
              <a:t>Время проверки, количество ошибок</a:t>
            </a:r>
          </a:p>
        </p:txBody>
      </p:sp>
    </p:spTree>
    <p:extLst>
      <p:ext uri="{BB962C8B-B14F-4D97-AF65-F5344CB8AC3E}">
        <p14:creationId xmlns:p14="http://schemas.microsoft.com/office/powerpoint/2010/main" val="267961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Машинное обучение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Прогноз </a:t>
            </a:r>
            <a:r>
              <a:rPr lang="ru-RU" dirty="0"/>
              <a:t>продаж (Сглаживание + Линейная </a:t>
            </a:r>
            <a:r>
              <a:rPr lang="ru-RU" dirty="0" smtClean="0"/>
              <a:t>регрессия</a:t>
            </a:r>
            <a:r>
              <a:rPr lang="en-US" dirty="0" smtClean="0"/>
              <a:t>)</a:t>
            </a:r>
            <a:endParaRPr lang="ru-RU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Метод: скользящее среднее за 7 дней + линейный </a:t>
            </a:r>
            <a:r>
              <a:rPr lang="ru-RU" dirty="0" smtClean="0"/>
              <a:t>тренд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Результат: MAE = $369 (ошибка ~10% от среднего чека</a:t>
            </a:r>
            <a:r>
              <a:rPr lang="ru-RU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R² = -0.026 (близко к базовому </a:t>
            </a:r>
            <a:r>
              <a:rPr lang="ru-RU" dirty="0" smtClean="0"/>
              <a:t>уровню, что нормально для малых данных)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dirty="0" smtClean="0"/>
              <a:t>Сегментация клиентов (</a:t>
            </a:r>
            <a:r>
              <a:rPr lang="en-US" dirty="0" smtClean="0"/>
              <a:t>K-Means)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Premium   (Member Female) → $</a:t>
            </a:r>
            <a:r>
              <a:rPr lang="en-US" dirty="0" smtClean="0"/>
              <a:t>88,147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 (</a:t>
            </a:r>
            <a:r>
              <a:rPr lang="ru-RU" dirty="0"/>
              <a:t>остальные)      → $</a:t>
            </a:r>
            <a:r>
              <a:rPr lang="ru-RU" dirty="0" smtClean="0"/>
              <a:t>234,820</a:t>
            </a:r>
            <a:endParaRPr lang="en-US" dirty="0" smtClean="0"/>
          </a:p>
          <a:p>
            <a:pPr marL="457200" indent="-457200">
              <a:buFont typeface="+mj-lt"/>
              <a:buAutoNum type="arabicPeriod" startAt="3"/>
            </a:pPr>
            <a:r>
              <a:rPr lang="ru-RU" dirty="0" smtClean="0"/>
              <a:t>Риск оттока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Постоянные </a:t>
            </a:r>
            <a:r>
              <a:rPr lang="ru-RU" dirty="0"/>
              <a:t>клиенты: рейтинг 6.94 → риск 50% </a:t>
            </a:r>
            <a:r>
              <a:rPr lang="ru-RU" dirty="0" smtClean="0"/>
              <a:t>Средний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Импульсивные </a:t>
            </a:r>
            <a:r>
              <a:rPr lang="ru-RU" dirty="0"/>
              <a:t>клиенты: рейтинг 7.01 → риск 20% (НИЗКИЙ</a:t>
            </a:r>
            <a:r>
              <a:rPr lang="ru-RU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Рекомендация: программа лояльности </a:t>
            </a:r>
            <a:r>
              <a:rPr lang="ru-RU" dirty="0" smtClean="0"/>
              <a:t>для постоянных клиентов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094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Сравнение моделей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Результаты тестирования (89 дней)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/>
              <a:t>Лучшая модель Сглаживание данных (</a:t>
            </a:r>
            <a:r>
              <a:rPr lang="en-US" dirty="0"/>
              <a:t>MAE = $</a:t>
            </a:r>
            <a:r>
              <a:rPr lang="en-US" dirty="0" smtClean="0"/>
              <a:t>369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r>
              <a:rPr lang="ru-RU" dirty="0"/>
              <a:t>Сглаживание убирает шум и улучшает качество прогноза</a:t>
            </a:r>
            <a:endParaRPr lang="en-US" dirty="0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574496"/>
              </p:ext>
            </p:extLst>
          </p:nvPr>
        </p:nvGraphicFramePr>
        <p:xfrm>
          <a:off x="1103312" y="2607732"/>
          <a:ext cx="95630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555">
                  <a:extLst>
                    <a:ext uri="{9D8B030D-6E8A-4147-A177-3AD203B41FA5}">
                      <a16:colId xmlns:a16="http://schemas.microsoft.com/office/drawing/2014/main" val="1494674209"/>
                    </a:ext>
                  </a:extLst>
                </a:gridCol>
                <a:gridCol w="2300155">
                  <a:extLst>
                    <a:ext uri="{9D8B030D-6E8A-4147-A177-3AD203B41FA5}">
                      <a16:colId xmlns:a16="http://schemas.microsoft.com/office/drawing/2014/main" val="4294431059"/>
                    </a:ext>
                  </a:extLst>
                </a:gridCol>
                <a:gridCol w="1755511">
                  <a:extLst>
                    <a:ext uri="{9D8B030D-6E8A-4147-A177-3AD203B41FA5}">
                      <a16:colId xmlns:a16="http://schemas.microsoft.com/office/drawing/2014/main" val="1884384361"/>
                    </a:ext>
                  </a:extLst>
                </a:gridCol>
                <a:gridCol w="2844799">
                  <a:extLst>
                    <a:ext uri="{9D8B030D-6E8A-4147-A177-3AD203B41FA5}">
                      <a16:colId xmlns:a16="http://schemas.microsoft.com/office/drawing/2014/main" val="361744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Модель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MAE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Ошибка от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dirty="0" smtClean="0"/>
                        <a:t>среднего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372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Простое среднее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$1,000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27%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1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Линейная регрессия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$1,354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-0.076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37%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56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Хольта-Винтерса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$1,323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-0.083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36%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0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Сглаживание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$369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-0.026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897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$1,770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-0.716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49%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38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29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Дашборд</a:t>
            </a:r>
            <a:r>
              <a:rPr lang="ru-RU" dirty="0" smtClean="0"/>
              <a:t> бизнес-аналитика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27" y="1312333"/>
            <a:ext cx="10317506" cy="5308600"/>
          </a:xfrm>
        </p:spPr>
      </p:pic>
    </p:spTree>
    <p:extLst>
      <p:ext uri="{BB962C8B-B14F-4D97-AF65-F5344CB8AC3E}">
        <p14:creationId xmlns:p14="http://schemas.microsoft.com/office/powerpoint/2010/main" val="85087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Дашборд</a:t>
            </a:r>
            <a:r>
              <a:rPr lang="ru-RU" dirty="0" smtClean="0"/>
              <a:t> </a:t>
            </a:r>
            <a:r>
              <a:rPr lang="en-US" dirty="0" smtClean="0"/>
              <a:t>ML </a:t>
            </a:r>
            <a:r>
              <a:rPr lang="ru-RU" dirty="0" smtClean="0"/>
              <a:t>аналитика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268" y="1152983"/>
            <a:ext cx="6689554" cy="5322588"/>
          </a:xfrm>
        </p:spPr>
      </p:pic>
    </p:spTree>
    <p:extLst>
      <p:ext uri="{BB962C8B-B14F-4D97-AF65-F5344CB8AC3E}">
        <p14:creationId xmlns:p14="http://schemas.microsoft.com/office/powerpoint/2010/main" val="391378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Дашборд</a:t>
            </a:r>
            <a:r>
              <a:rPr lang="ru-RU" dirty="0" smtClean="0"/>
              <a:t> метаданные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362" y="1346199"/>
            <a:ext cx="8625472" cy="4910667"/>
          </a:xfrm>
        </p:spPr>
      </p:pic>
    </p:spTree>
    <p:extLst>
      <p:ext uri="{BB962C8B-B14F-4D97-AF65-F5344CB8AC3E}">
        <p14:creationId xmlns:p14="http://schemas.microsoft.com/office/powerpoint/2010/main" val="16814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и 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2" y="1380068"/>
            <a:ext cx="9403742" cy="486833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 smtClean="0"/>
              <a:t>Статистика</a:t>
            </a:r>
            <a:r>
              <a:rPr lang="en-US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1000 </a:t>
            </a:r>
            <a:r>
              <a:rPr lang="ru-RU" dirty="0" smtClean="0"/>
              <a:t>транзакций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Общая выручка: $</a:t>
            </a:r>
            <a:r>
              <a:rPr lang="ru-RU" dirty="0" smtClean="0"/>
              <a:t>318,222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Средний чек: $</a:t>
            </a:r>
            <a:r>
              <a:rPr lang="ru-RU" dirty="0" smtClean="0"/>
              <a:t>323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Средний рейтинг: </a:t>
            </a:r>
            <a:r>
              <a:rPr lang="ru-RU" dirty="0" smtClean="0"/>
              <a:t>7.0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Прогноз на неделю: $</a:t>
            </a:r>
            <a:r>
              <a:rPr lang="ru-RU" dirty="0" smtClean="0"/>
              <a:t>27,217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Лучшая модель: сглаживание (MAE = $369)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Что сделано</a:t>
            </a:r>
            <a:r>
              <a:rPr lang="en-US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NDS слой </a:t>
            </a:r>
            <a:r>
              <a:rPr lang="ru-RU" dirty="0" smtClean="0"/>
              <a:t>(5 </a:t>
            </a:r>
            <a:r>
              <a:rPr lang="ru-RU" dirty="0"/>
              <a:t>справочников + факты</a:t>
            </a:r>
            <a:r>
              <a:rPr lang="ru-RU" dirty="0" smtClean="0"/>
              <a:t>)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DDS </a:t>
            </a:r>
            <a:r>
              <a:rPr lang="ru-RU" dirty="0"/>
              <a:t>слой (схема звезда</a:t>
            </a:r>
            <a:r>
              <a:rPr lang="ru-RU" dirty="0" smtClean="0"/>
              <a:t>)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ETL </a:t>
            </a:r>
            <a:r>
              <a:rPr lang="ru-RU" dirty="0"/>
              <a:t>на </a:t>
            </a:r>
            <a:r>
              <a:rPr lang="en-US" dirty="0" smtClean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6 проверок </a:t>
            </a:r>
            <a:r>
              <a:rPr lang="en-US" dirty="0"/>
              <a:t>Data </a:t>
            </a:r>
            <a:r>
              <a:rPr lang="en-US" dirty="0" smtClean="0"/>
              <a:t>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5</a:t>
            </a:r>
            <a:r>
              <a:rPr lang="en-US" dirty="0" smtClean="0"/>
              <a:t> </a:t>
            </a:r>
            <a:r>
              <a:rPr lang="en-US" dirty="0"/>
              <a:t>ML </a:t>
            </a:r>
            <a:r>
              <a:rPr lang="ru-RU" dirty="0" smtClean="0"/>
              <a:t>моделей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3 </a:t>
            </a:r>
            <a:r>
              <a:rPr lang="ru-RU" dirty="0" err="1"/>
              <a:t>дашборда</a:t>
            </a:r>
            <a:r>
              <a:rPr lang="ru-RU" dirty="0"/>
              <a:t> в </a:t>
            </a:r>
            <a:r>
              <a:rPr lang="en-US" dirty="0" smtClean="0"/>
              <a:t>Tableau</a:t>
            </a:r>
          </a:p>
          <a:p>
            <a:pPr marL="0" indent="0">
              <a:buNone/>
            </a:pPr>
            <a:r>
              <a:rPr lang="ru-RU" dirty="0" smtClean="0"/>
              <a:t>Рекомендации бизнесу</a:t>
            </a:r>
            <a:r>
              <a:rPr lang="en-US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smtClean="0"/>
              <a:t>Постоянные клиенты </a:t>
            </a:r>
            <a:r>
              <a:rPr lang="ru-RU" dirty="0"/>
              <a:t>в зоне риска — запустить программу </a:t>
            </a:r>
            <a:r>
              <a:rPr lang="ru-RU" dirty="0" smtClean="0"/>
              <a:t>лояльности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Пик продаж в субботу — усилить </a:t>
            </a:r>
            <a:r>
              <a:rPr lang="ru-RU" dirty="0" smtClean="0"/>
              <a:t>персонал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Fashion</a:t>
            </a:r>
            <a:r>
              <a:rPr lang="ru-RU" dirty="0"/>
              <a:t> </a:t>
            </a:r>
            <a:r>
              <a:rPr lang="ru-RU" dirty="0" err="1"/>
              <a:t>accessories</a:t>
            </a:r>
            <a:r>
              <a:rPr lang="ru-RU" dirty="0"/>
              <a:t> — самый прибыльный </a:t>
            </a:r>
            <a:r>
              <a:rPr lang="ru-RU" dirty="0" smtClean="0"/>
              <a:t>товар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Использовать сглаживание для прогнозирования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20531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01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453</TotalTime>
  <Words>552</Words>
  <Application>Microsoft Office PowerPoint</Application>
  <PresentationFormat>Широкоэкранный</PresentationFormat>
  <Paragraphs>134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Ион</vt:lpstr>
      <vt:lpstr>Дипломный проект</vt:lpstr>
      <vt:lpstr>Цель и задачи</vt:lpstr>
      <vt:lpstr>Инструменты и компоненты</vt:lpstr>
      <vt:lpstr>Архитектура хранилища данных</vt:lpstr>
      <vt:lpstr>Схема NDS</vt:lpstr>
      <vt:lpstr>Схема Звезда (DDS)</vt:lpstr>
      <vt:lpstr>ETL Процесс</vt:lpstr>
      <vt:lpstr>Качество данных</vt:lpstr>
      <vt:lpstr>Машинное обучение</vt:lpstr>
      <vt:lpstr>Сравнение моделей</vt:lpstr>
      <vt:lpstr>Дашборд бизнес-аналитика</vt:lpstr>
      <vt:lpstr>Дашборд ML аналитика</vt:lpstr>
      <vt:lpstr>Дашборд метаданные</vt:lpstr>
      <vt:lpstr>Результаты и выводы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Дипломный проект</dc:title>
  <dc:creator>Denis Miftakhov</dc:creator>
  <cp:lastModifiedBy>Denis Miftakhov</cp:lastModifiedBy>
  <cp:revision>13</cp:revision>
  <dcterms:created xsi:type="dcterms:W3CDTF">2026-05-20T08:49:10Z</dcterms:created>
  <dcterms:modified xsi:type="dcterms:W3CDTF">2026-05-20T16:22:21Z</dcterms:modified>
</cp:coreProperties>
</file>